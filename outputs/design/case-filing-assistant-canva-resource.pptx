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5782aa1e9444ef" /><Relationship Type="http://schemas.openxmlformats.org/officeDocument/2006/relationships/extended-properties" Target="/docProps/app.xml" Id="R92846a06772f4ef6" /><Relationship Type="http://schemas.openxmlformats.org/officeDocument/2006/relationships/officeDocument" Target="/ppt/presentation.xml" Id="R5fc67013b0e24b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a8080411dd439c"/>
  </p:sldMasterIdLst>
  <p:notesMasterIdLst>
    <p:notesMasterId xmlns:r="http://schemas.openxmlformats.org/officeDocument/2006/relationships" r:id="R8f869f590b14407c"/>
  </p:notesMasterIdLst>
  <p:sldIdLst>
    <p:sldId xmlns:r="http://schemas.openxmlformats.org/officeDocument/2006/relationships" id="256" r:id="R64ffd59026c3468a"/>
    <p:sldId xmlns:r="http://schemas.openxmlformats.org/officeDocument/2006/relationships" id="257" r:id="Re1d7574918f146e0"/>
    <p:sldId xmlns:r="http://schemas.openxmlformats.org/officeDocument/2006/relationships" id="258" r:id="R5c64f9b7d9b1438e"/>
    <p:sldId xmlns:r="http://schemas.openxmlformats.org/officeDocument/2006/relationships" id="259" r:id="R11b1e405b7ae43f3"/>
    <p:sldId xmlns:r="http://schemas.openxmlformats.org/officeDocument/2006/relationships" id="260" r:id="Rf92f6908295a4427"/>
    <p:sldId xmlns:r="http://schemas.openxmlformats.org/officeDocument/2006/relationships" id="261" r:id="R7c27edf0d3d845ef"/>
    <p:sldId xmlns:r="http://schemas.openxmlformats.org/officeDocument/2006/relationships" id="262" r:id="R16e61dfb48b54642"/>
    <p:sldId xmlns:r="http://schemas.openxmlformats.org/officeDocument/2006/relationships" id="263" r:id="Re4d15252211d4dca"/>
    <p:sldId xmlns:r="http://schemas.openxmlformats.org/officeDocument/2006/relationships" id="264" r:id="R52147254c17442cb"/>
    <p:sldId xmlns:r="http://schemas.openxmlformats.org/officeDocument/2006/relationships" id="265" r:id="R585d458ebf0a4ef3"/>
    <p:sldId xmlns:r="http://schemas.openxmlformats.org/officeDocument/2006/relationships" id="266" r:id="Rac8e079b9dd34bd2"/>
    <p:sldId xmlns:r="http://schemas.openxmlformats.org/officeDocument/2006/relationships" id="267" r:id="R5db91e8d3de74b92"/>
    <p:sldId xmlns:r="http://schemas.openxmlformats.org/officeDocument/2006/relationships" id="268" r:id="Rb2ef97f7a5a64d1f"/>
    <p:sldId xmlns:r="http://schemas.openxmlformats.org/officeDocument/2006/relationships" id="269" r:id="R773216dfd9354d23"/>
    <p:sldId xmlns:r="http://schemas.openxmlformats.org/officeDocument/2006/relationships" id="270" r:id="R0c7e608a775e41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9e78e4cf6f4713" /><Relationship Type="http://schemas.openxmlformats.org/officeDocument/2006/relationships/slideMaster" Target="/ppt/slideMasters/slideMaster1.xml" Id="R6fa8080411dd439c" /><Relationship Type="http://schemas.openxmlformats.org/officeDocument/2006/relationships/notesMaster" Target="/ppt/notesMasters/notesMaster1.xml" Id="R8f869f590b14407c" /><Relationship Type="http://schemas.openxmlformats.org/officeDocument/2006/relationships/presProps" Target="/ppt/presProps.xml" Id="Ra570e1c2bef54bcb" /><Relationship Type="http://schemas.openxmlformats.org/officeDocument/2006/relationships/tableStyles" Target="/ppt/tableStyles.xml" Id="R39171b50f77d429a" /><Relationship Type="http://schemas.openxmlformats.org/officeDocument/2006/relationships/slide" Target="/ppt/slides/slide1.xml" Id="R64ffd59026c3468a" /><Relationship Type="http://schemas.openxmlformats.org/officeDocument/2006/relationships/slide" Target="/ppt/slides/slide2.xml" Id="Re1d7574918f146e0" /><Relationship Type="http://schemas.openxmlformats.org/officeDocument/2006/relationships/slide" Target="/ppt/slides/slide3.xml" Id="R5c64f9b7d9b1438e" /><Relationship Type="http://schemas.openxmlformats.org/officeDocument/2006/relationships/slide" Target="/ppt/slides/slide4.xml" Id="R11b1e405b7ae43f3" /><Relationship Type="http://schemas.openxmlformats.org/officeDocument/2006/relationships/slide" Target="/ppt/slides/slide5.xml" Id="Rf92f6908295a4427" /><Relationship Type="http://schemas.openxmlformats.org/officeDocument/2006/relationships/slide" Target="/ppt/slides/slide6.xml" Id="R7c27edf0d3d845ef" /><Relationship Type="http://schemas.openxmlformats.org/officeDocument/2006/relationships/slide" Target="/ppt/slides/slide7.xml" Id="R16e61dfb48b54642" /><Relationship Type="http://schemas.openxmlformats.org/officeDocument/2006/relationships/slide" Target="/ppt/slides/slide8.xml" Id="Re4d15252211d4dca" /><Relationship Type="http://schemas.openxmlformats.org/officeDocument/2006/relationships/slide" Target="/ppt/slides/slide9.xml" Id="R52147254c17442cb" /><Relationship Type="http://schemas.openxmlformats.org/officeDocument/2006/relationships/slide" Target="/ppt/slides/slide10.xml" Id="R585d458ebf0a4ef3" /><Relationship Type="http://schemas.openxmlformats.org/officeDocument/2006/relationships/slide" Target="/ppt/slides/slide11.xml" Id="Rac8e079b9dd34bd2" /><Relationship Type="http://schemas.openxmlformats.org/officeDocument/2006/relationships/slide" Target="/ppt/slides/slide12.xml" Id="R5db91e8d3de74b92" /><Relationship Type="http://schemas.openxmlformats.org/officeDocument/2006/relationships/slide" Target="/ppt/slides/slide13.xml" Id="Rb2ef97f7a5a64d1f" /><Relationship Type="http://schemas.openxmlformats.org/officeDocument/2006/relationships/slide" Target="/ppt/slides/slide14.xml" Id="R773216dfd9354d23" /><Relationship Type="http://schemas.openxmlformats.org/officeDocument/2006/relationships/slide" Target="/ppt/slides/slide15.xml" Id="R0c7e608a775e41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e9a20175cf4a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e94cad05ef4867" /><Relationship Type="http://schemas.openxmlformats.org/officeDocument/2006/relationships/notesMaster" Target="/ppt/notesMasters/notesMaster1.xml" Id="R500deda0c73142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8deba40a1a4191" /><Relationship Type="http://schemas.openxmlformats.org/officeDocument/2006/relationships/notesMaster" Target="/ppt/notesMasters/notesMaster1.xml" Id="R7a59f080f36949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648ef89008448d" /><Relationship Type="http://schemas.openxmlformats.org/officeDocument/2006/relationships/notesMaster" Target="/ppt/notesMasters/notesMaster1.xml" Id="R2892035e1c924a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044842f3d94b69" /><Relationship Type="http://schemas.openxmlformats.org/officeDocument/2006/relationships/notesMaster" Target="/ppt/notesMasters/notesMaster1.xml" Id="R6c1a55ff96b141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1227f143804cab" /><Relationship Type="http://schemas.openxmlformats.org/officeDocument/2006/relationships/notesMaster" Target="/ppt/notesMasters/notesMaster1.xml" Id="R84847ed0e4f14a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eba4f33f964978" /><Relationship Type="http://schemas.openxmlformats.org/officeDocument/2006/relationships/notesMaster" Target="/ppt/notesMasters/notesMaster1.xml" Id="R1ef0174008aa4d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60067ded9e402d" /><Relationship Type="http://schemas.openxmlformats.org/officeDocument/2006/relationships/notesMaster" Target="/ppt/notesMasters/notesMaster1.xml" Id="R4be96f71abb946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fa285035bf4322" /><Relationship Type="http://schemas.openxmlformats.org/officeDocument/2006/relationships/notesMaster" Target="/ppt/notesMasters/notesMaster1.xml" Id="R52c1db153e0b40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23f2e47e11497c" /><Relationship Type="http://schemas.openxmlformats.org/officeDocument/2006/relationships/notesMaster" Target="/ppt/notesMasters/notesMaster1.xml" Id="R63c9a439da464a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e11f09c5dd48a1" /><Relationship Type="http://schemas.openxmlformats.org/officeDocument/2006/relationships/notesMaster" Target="/ppt/notesMasters/notesMaster1.xml" Id="R3638b380f2c64e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356dc75b78c4fed" /><Relationship Type="http://schemas.openxmlformats.org/officeDocument/2006/relationships/notesMaster" Target="/ppt/notesMasters/notesMaster1.xml" Id="R5f8dde51a70845c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ce148dea03a45a9" /><Relationship Type="http://schemas.openxmlformats.org/officeDocument/2006/relationships/notesMaster" Target="/ppt/notesMasters/notesMaster1.xml" Id="Rd0f4b99eba7e4c8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a5d332833b64bba" /><Relationship Type="http://schemas.openxmlformats.org/officeDocument/2006/relationships/notesMaster" Target="/ppt/notesMasters/notesMaster1.xml" Id="R6051bbeffcae476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03feeb0a05f4ad7" /><Relationship Type="http://schemas.openxmlformats.org/officeDocument/2006/relationships/notesMaster" Target="/ppt/notesMasters/notesMaster1.xml" Id="R27653513cb1c4a4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23451105b504917" /><Relationship Type="http://schemas.openxmlformats.org/officeDocument/2006/relationships/notesMaster" Target="/ppt/notesMasters/notesMaster1.xml" Id="Rb64638d4458a4f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design source: outputs/design/case-filing-assistant-design.html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Imports API (.pptx supported): https://www.canva.dev/docs/connect/api-reference/design-imports/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design source: outputs/design/case-filing-assistant-design.html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design source: outputs/design/case-filing-assistant-design.html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design source: outputs/design/case-filing-assistant-design.html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design source: outputs/design/case-filing-assistant-design.html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design source: outputs/design/case-filing-assistant-design.html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Embedded design screenshot: qa-home-desktop.png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Embedded design screenshot: qa-facts-pending-desktop.png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Embedded design screenshot: qa-facts-desktop.png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Embedded design screenshot: qa-application-desktop.png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Embedded design screenshot: qa-review-desktop.png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Embedded design screenshot: qa-export-desktop.png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Embedded design screenshot: qa-blocked-desktop.png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Embedded design screenshot: qa-home-narrow.png</a:t>
            </a:r>
          </a:p>
          <a:p xmlns:a="http://schemas.openxmlformats.org/drawingml/2006/main">
            <a:r>
              <a:t>- Embedded design screenshot: qa-source-dialog-narrow.png</a:t>
            </a:r>
          </a:p>
          <a:p xmlns:a="http://schemas.openxmlformats.org/drawingml/2006/main">
            <a:r>
              <a:t>- Embedded design screenshot: qa-home-dark.png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43432e2cd34e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f74a00ab444ff5" /><Relationship Type="http://schemas.openxmlformats.org/officeDocument/2006/relationships/slideLayout" Target="/ppt/slideLayouts/slideLayout1.xml" Id="Refa766cb83de41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a766cb83de41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9942024484b5f" /><Relationship Type="http://schemas.openxmlformats.org/officeDocument/2006/relationships/notesSlide" Target="/ppt/notesSlides/notesSlide1.xml" Id="Ra47b428230bc4a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eb5d7585d4081" /><Relationship Type="http://schemas.openxmlformats.org/officeDocument/2006/relationships/notesSlide" Target="/ppt/notesSlides/notesSlide2.xml" Id="R6c6c311e4dee4d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90d843c12469b" /><Relationship Type="http://schemas.openxmlformats.org/officeDocument/2006/relationships/notesSlide" Target="/ppt/notesSlides/notesSlide3.xml" Id="Rc8ba5e2b879a42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d64f1b102464c" /><Relationship Type="http://schemas.openxmlformats.org/officeDocument/2006/relationships/notesSlide" Target="/ppt/notesSlides/notesSlide4.xml" Id="R9a3045137a6c4f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1a32e0e5346bd" /><Relationship Type="http://schemas.openxmlformats.org/officeDocument/2006/relationships/notesSlide" Target="/ppt/notesSlides/notesSlide5.xml" Id="R5aa6976d71444e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5ab1467b594a91" /><Relationship Type="http://schemas.openxmlformats.org/officeDocument/2006/relationships/notesSlide" Target="/ppt/notesSlides/notesSlide6.xml" Id="R0423bfaf82ce4f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e6bfe40f84060" /><Relationship Type="http://schemas.openxmlformats.org/officeDocument/2006/relationships/notesSlide" Target="/ppt/notesSlides/notesSlide7.xml" Id="R13151b4a24d041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08c2ac90a4700" /><Relationship Type="http://schemas.openxmlformats.org/officeDocument/2006/relationships/image" Target="/ppt/media/image.png" Id="Rf9d13a63aab04396" /><Relationship Type="http://schemas.openxmlformats.org/officeDocument/2006/relationships/notesSlide" Target="/ppt/notesSlides/notesSlide8.xml" Id="R7573f52d2a5445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b6f260adf4e35" /><Relationship Type="http://schemas.openxmlformats.org/officeDocument/2006/relationships/image" Target="/ppt/media/image2.png" Id="R80bd91e544ae42ad" /><Relationship Type="http://schemas.openxmlformats.org/officeDocument/2006/relationships/notesSlide" Target="/ppt/notesSlides/notesSlide9.xml" Id="Re3e5a8d6cdca48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b511130594f67" /><Relationship Type="http://schemas.openxmlformats.org/officeDocument/2006/relationships/image" Target="/ppt/media/image3.png" Id="R9f4e2334a8924a4e" /><Relationship Type="http://schemas.openxmlformats.org/officeDocument/2006/relationships/notesSlide" Target="/ppt/notesSlides/notesSlide10.xml" Id="R5cebfe1b3bea4d9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72376511747c2" /><Relationship Type="http://schemas.openxmlformats.org/officeDocument/2006/relationships/image" Target="/ppt/media/image4.png" Id="Rbe591dd1636b4cc0" /><Relationship Type="http://schemas.openxmlformats.org/officeDocument/2006/relationships/notesSlide" Target="/ppt/notesSlides/notesSlide11.xml" Id="R0db68919a11e4f1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0ef70ecfc4301" /><Relationship Type="http://schemas.openxmlformats.org/officeDocument/2006/relationships/image" Target="/ppt/media/image5.png" Id="R4a4c66d2001341b1" /><Relationship Type="http://schemas.openxmlformats.org/officeDocument/2006/relationships/notesSlide" Target="/ppt/notesSlides/notesSlide12.xml" Id="R1341e8e51abe4c9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79a270d964209" /><Relationship Type="http://schemas.openxmlformats.org/officeDocument/2006/relationships/image" Target="/ppt/media/image6.png" Id="Rffc9295370a04c11" /><Relationship Type="http://schemas.openxmlformats.org/officeDocument/2006/relationships/notesSlide" Target="/ppt/notesSlides/notesSlide13.xml" Id="R0241556413be4aa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e33717d5bb4d97" /><Relationship Type="http://schemas.openxmlformats.org/officeDocument/2006/relationships/image" Target="/ppt/media/image7.png" Id="R36bcb667ae4c46ff" /><Relationship Type="http://schemas.openxmlformats.org/officeDocument/2006/relationships/notesSlide" Target="/ppt/notesSlides/notesSlide14.xml" Id="R8341c7bf898b4a2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710287c1c4ef1" /><Relationship Type="http://schemas.openxmlformats.org/officeDocument/2006/relationships/image" Target="/ppt/media/image8.png" Id="R2310fe14f37a473a" /><Relationship Type="http://schemas.openxmlformats.org/officeDocument/2006/relationships/image" Target="/ppt/media/image9.png" Id="Rb4c6a3c503414dc7" /><Relationship Type="http://schemas.openxmlformats.org/officeDocument/2006/relationships/image" Target="/ppt/media/image10.png" Id="R0127abe74e7c4a6b" /><Relationship Type="http://schemas.openxmlformats.org/officeDocument/2006/relationships/notesSlide" Target="/ppt/notesSlides/notesSlide15.xml" Id="Rc4719e2fec9744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9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467351-C51E-489D-BA8A-3C3F4F5D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4B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CDD29-49C9-4FBB-808D-8199E30C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72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D6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85867F-8762-48C4-A23F-DD14AE1D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5430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3A"/>
          </a:solidFill>
          <a:ln xmlns:a="http://schemas.openxmlformats.org/drawingml/2006/main" w="9525">
            <a:solidFill>
              <a:srgbClr val="416B6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6A2AA7-CA34-4F06-A690-AD7B379F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BE0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BE0DD"/>
                </a:solidFill>
                <a:latin typeface="Microsoft YaHei"/>
                <a:ea typeface="Microsoft YaHei"/>
                <a:cs typeface="Microsoft YaHei"/>
              </a:rPr>
              <a:t>CANVA 可编辑资源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8A34EB-DE22-47CF-9C56-0E579714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6286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Case Filing</a:t>
            </a:r>
          </a:p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Assistant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6D012-60D8-4DF9-B9B0-27D58C89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3D5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3D5D2"/>
                </a:solidFill>
                <a:latin typeface="Microsoft YaHei"/>
                <a:ea typeface="Microsoft YaHei"/>
                <a:cs typeface="Microsoft YaHei"/>
              </a:rPr>
              <a:t>强制执行材料助手 · 设计资源包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1D53A1-1F05-4D62-8DD0-CF0FC3AC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581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FC4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FC4C1"/>
                </a:solidFill>
                <a:latin typeface="Microsoft YaHei"/>
                <a:ea typeface="Microsoft YaHei"/>
                <a:cs typeface="Microsoft YaHei"/>
              </a:rPr>
              <a:t>可编辑令牌、组件、状态与完整界面参考</a:t>
            </a:r>
          </a:p>
          <a:p xmlns:a="http://schemas.openxmlformats.org/drawingml/2006/main">
            <a:pPr algn="l">
              <a:defRPr sz="1500" b="0">
                <a:solidFill>
                  <a:srgbClr val="AFC4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FC4C1"/>
                </a:solidFill>
                <a:latin typeface="Microsoft YaHei"/>
                <a:ea typeface="Microsoft YaHei"/>
                <a:cs typeface="Microsoft YaHei"/>
              </a:rPr>
              <a:t>用于评审、视觉统一与实现对齐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9FCDA5-39C4-4AEC-8448-69C03713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742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EE1"/>
          </a:solidFill>
          <a:ln xmlns:a="http://schemas.openxmlformats.org/drawingml/2006/main" w="9525">
            <a:solidFill>
              <a:srgbClr val="F8EE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C63E09-3338-454E-88C1-201D7EBE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D6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D6D2C"/>
                </a:solidFill>
                <a:latin typeface="Microsoft YaHei"/>
                <a:ea typeface="Microsoft YaHei"/>
                <a:cs typeface="Microsoft YaHei"/>
              </a:rPr>
              <a:t>v0.5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2A9752-3B53-4496-B418-C0AA2BDD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15000"/>
            <a:ext cx="838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3A"/>
          </a:solidFill>
          <a:ln xmlns:a="http://schemas.openxmlformats.org/drawingml/2006/main" w="9525">
            <a:solidFill>
              <a:srgbClr val="416B6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7FDD72-6C73-40F9-ADE3-FE86D71C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71500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BE0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BE0DD"/>
                </a:solidFill>
                <a:latin typeface="Microsoft YaHei"/>
                <a:ea typeface="Microsoft YaHei"/>
                <a:cs typeface="Microsoft YaHei"/>
              </a:rPr>
              <a:t>16:9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ABB71F-6BA8-4BD5-B293-43CDF3CC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715000"/>
            <a:ext cx="838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3A"/>
          </a:solidFill>
          <a:ln xmlns:a="http://schemas.openxmlformats.org/drawingml/2006/main" w="9525">
            <a:solidFill>
              <a:srgbClr val="416B6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C4B4D2-56AB-4FBE-B5B8-BF90DF4F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71500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BE0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BE0DD"/>
                </a:solidFill>
                <a:latin typeface="Microsoft YaHei"/>
                <a:ea typeface="Microsoft YaHei"/>
                <a:cs typeface="Microsoft YaHei"/>
              </a:rPr>
              <a:t>PPTX</a:t>
            </a:r>
          </a:p>
        </p:txBody>
      </p:sp>
    </p:spTree>
    <p:extLst>
      <p:ext uri="{BB962C8B-B14F-4D97-AF65-F5344CB8AC3E}">
        <p14:creationId xmlns:p14="http://schemas.microsoft.com/office/powerpoint/2010/main" val="6308370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EF2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B38F98-79A5-468B-8E7B-0A5B4C86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HOW TO 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72881-C511-4383-A22E-09D8430A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导入 Canva 后怎么用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E03FF-0096-43EC-9A53-C0ADC5CB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381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CC183-0769-448A-8D4E-EBD368AA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33375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5AC92-1663-44D6-9366-561952E9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4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1B8BD-18F8-45A5-B91D-F1B85B89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AF5F40-ABCD-493C-B01E-9A6388DA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上传 PPTX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D8F4CA-585F-4B7B-9892-9BF0BBB8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在 Canva 的“导入文件”中选择本资源。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AD0BDF-211D-4F53-A223-7D7FA5EA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62100"/>
            <a:ext cx="333375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D13B86-DAE0-4F7E-878F-687CD864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4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25D041-2721-465A-A636-267E5EB7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F0752B-BD98-4870-BE43-6B698CE6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保留可编辑页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210A12-4631-40B5-99C8-29B7E27C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7180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第 3–7 页由文字与基础图形组成，可拆解复用。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C013F3-E9B0-4417-8DD6-3A3E5087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62100"/>
            <a:ext cx="333375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4E25D4-00CE-4FD5-93A0-EDB505E6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4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161A29-E260-49E6-9BB7-77CA1C4E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79156F-E698-4E2E-BA32-A99FC51B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对照完整页面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DDF5C8-D00C-47F6-9366-0B9BFAE2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7180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第 8 页起为高保真界面参考，用于统一实现效果。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E86833-EA03-46B8-8CC9-7C6CB5A1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629900" cy="1752600"/>
          </a:xfrm>
          <a:prstGeom xmlns:a="http://schemas.openxmlformats.org/drawingml/2006/main" prst="roundRect">
            <a:avLst>
              <a:gd name="adj" fmla="val 9783"/>
            </a:avLst>
          </a:prstGeom>
          <a:solidFill xmlns:a="http://schemas.openxmlformats.org/drawingml/2006/main">
            <a:srgbClr val="FAF8F2"/>
          </a:solidFill>
          <a:ln xmlns:a="http://schemas.openxmlformats.org/drawingml/2006/main" w="9525">
            <a:solidFill>
              <a:srgbClr val="E8DF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38D984-43F5-4530-B266-95DCADDD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D6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D6D2C"/>
                </a:solidFill>
                <a:latin typeface="Microsoft YaHei"/>
                <a:ea typeface="Microsoft YaHei"/>
                <a:cs typeface="Microsoft YaHei"/>
              </a:rPr>
              <a:t>交付结构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2B52D4-8D2E-4437-826A-79D1607F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可编辑基础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98577B-FC7A-4253-9FFE-C148FE54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7207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颜色 · 字体 · 间距 · 组件 · 动效标注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AF05BE-D525-4008-8F68-888A92CC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76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高保真参考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7B40C4-68DD-4C25-8EB5-45DDDE3B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720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首页 · 材料 · 申请内容 · 复核 · 导出 · 阻断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8D93A3-3EEC-4A28-BBF9-060721CD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D13691-F847-483E-A41E-569BD9A9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Case Filing Assistant · Canva Resource</a:t>
            </a:r>
          </a:p>
        </p:txBody>
      </p:sp>
    </p:spTree>
    <p:extLst>
      <p:ext uri="{BB962C8B-B14F-4D97-AF65-F5344CB8AC3E}">
        <p14:creationId xmlns:p14="http://schemas.microsoft.com/office/powerpoint/2010/main" val="8565173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2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8A959D5-CEAD-4BDB-9ABC-CFC4F0E3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FOUNDATIONS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A822E-F77F-4010-AC81-E3442147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设计基础：颜色、字体与空间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82889F-0740-42E4-9A60-A521E00F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381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28C0BA-C675-4791-88A9-8861965A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14B4A"/>
          </a:solidFill>
          <a:ln xmlns:a="http://schemas.openxmlformats.org/drawingml/2006/main" w="9525">
            <a:solidFill>
              <a:srgbClr val="214B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63B09E-3C05-4005-BA5B-E8ABA6CA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24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品牌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368CA-80C3-4377-914B-54D01C0B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811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#214B4A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8AFA8-6D22-46E3-BD5B-711E75C0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0495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AD6D2C"/>
          </a:solidFill>
          <a:ln xmlns:a="http://schemas.openxmlformats.org/drawingml/2006/main" w="9525">
            <a:solidFill>
              <a:srgbClr val="AD6D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320F51-FF2D-4BA7-B448-24E5696C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24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强调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E2F8D2-C7BC-4B61-B229-173761AF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811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#AD6D2C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28F04C-19E7-43FC-B608-E92F3636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0495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33705B"/>
          </a:solidFill>
          <a:ln xmlns:a="http://schemas.openxmlformats.org/drawingml/2006/main" w="9525">
            <a:solidFill>
              <a:srgbClr val="3370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3FB26-3C14-4E44-9B4D-416239C0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24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成功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0C438A-F1CE-4BBD-B57C-F5B91BE5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811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#33705B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7C794C-A64C-419D-BEF4-70250ACC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0495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9A671F"/>
          </a:solidFill>
          <a:ln xmlns:a="http://schemas.openxmlformats.org/drawingml/2006/main" w="9525">
            <a:solidFill>
              <a:srgbClr val="9A67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8E904-A156-461D-9A7F-5FB172B8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524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警告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BCD3B7-32FB-4CD4-818A-698B66E3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811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#9A671F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8368B5-9676-49FD-9252-3BD67978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A3433D"/>
          </a:solidFill>
          <a:ln xmlns:a="http://schemas.openxmlformats.org/drawingml/2006/main" w="9525">
            <a:solidFill>
              <a:srgbClr val="A343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280E06-711F-456E-8732-47C3D5AF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574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危险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8A9E96-AC07-4A19-A455-94227748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146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#A3433D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8C0D81-3F84-49BF-B846-021ED72D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3840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72326"/>
          </a:solidFill>
          <a:ln xmlns:a="http://schemas.openxmlformats.org/drawingml/2006/main" w="9525">
            <a:solidFill>
              <a:srgbClr val="1723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7AE2D3-F59C-42A9-8759-45FD0E88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574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正文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477FD9-4BDA-4DF8-946F-B4BB6F86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146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#172326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B9F26D-F2CC-4FED-B3CE-FBCE8DE3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3840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667477"/>
          </a:solidFill>
          <a:ln xmlns:a="http://schemas.openxmlformats.org/drawingml/2006/main" w="9525">
            <a:solidFill>
              <a:srgbClr val="66747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179F33-BC38-4B18-AA22-23F2E8E4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574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弱文本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F21F4D-BB79-4C0A-88B1-64073B98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146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#667477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68B712-3B37-4729-B6FD-46CA86E9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3840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D8E0DD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0F3E3A-AC5B-4874-A4A8-13448BE4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574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分隔线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C9D53C-7985-4015-9E07-61730176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146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#D8E0DD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B3CBDE-E48F-4B22-B5DA-83AE9333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28750"/>
            <a:ext cx="3219450" cy="2152650"/>
          </a:xfrm>
          <a:prstGeom xmlns:a="http://schemas.openxmlformats.org/drawingml/2006/main" prst="roundRect">
            <a:avLst>
              <a:gd name="adj" fmla="val 79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C27254-A1A2-40D4-9CA8-5A2431DE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57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中文字体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22C0D9-4F27-43F6-8333-7FF33E80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Microsoft YaHei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9FEFC6-AE48-4F1D-9F31-B6D51D35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界面标题 32–40</a:t>
            </a:r>
          </a:p>
          <a:p xmlns:a="http://schemas.openxmlformats.org/drawingml/2006/main">
            <a:pPr algn="l">
              <a:defRPr sz="120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模块标题 20–24</a:t>
            </a:r>
          </a:p>
          <a:p xmlns:a="http://schemas.openxmlformats.org/drawingml/2006/main">
            <a:pPr algn="l">
              <a:defRPr sz="120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正文 16–18</a:t>
            </a:r>
          </a:p>
          <a:p xmlns:a="http://schemas.openxmlformats.org/drawingml/2006/main">
            <a:pPr algn="l">
              <a:defRPr sz="120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辅助文字 12–14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275E40-42E5-478D-BCE9-275A36DC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6299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DC9989-A206-4797-B8EF-F8B3EE04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空间与圆角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BCE31A-1520-4CAE-8BCD-6F3522EA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2286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6C"/>
          </a:solidFill>
          <a:ln xmlns:a="http://schemas.openxmlformats.org/drawingml/2006/main" w="9525">
            <a:solidFill>
              <a:srgbClr val="2F6F6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733211-BCF0-499B-BE51-D7F57088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4px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D0219B-2C9A-47C1-A64E-7EAFCB1D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686300"/>
            <a:ext cx="4000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6C"/>
          </a:solidFill>
          <a:ln xmlns:a="http://schemas.openxmlformats.org/drawingml/2006/main" w="9525">
            <a:solidFill>
              <a:srgbClr val="2F6F6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8DC169-215D-40FF-8ED3-C6E16568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01015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8px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7B3BDB-9E49-46CD-AAC3-FB5D6C68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86300"/>
            <a:ext cx="5905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6C"/>
          </a:solidFill>
          <a:ln xmlns:a="http://schemas.openxmlformats.org/drawingml/2006/main" w="9525">
            <a:solidFill>
              <a:srgbClr val="2F6F6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80D86E-6B70-42FD-907E-B33E7791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1015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12px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2A97AE-C559-481E-AAB6-AD5C5379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86300"/>
            <a:ext cx="7810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6C"/>
          </a:solidFill>
          <a:ln xmlns:a="http://schemas.openxmlformats.org/drawingml/2006/main" w="9525">
            <a:solidFill>
              <a:srgbClr val="2F6F6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C13587-044D-4CB5-8486-4E94C2C4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01015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16px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FF8A2D7-F14C-4A88-AB06-79AD7C05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686300"/>
            <a:ext cx="11049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6C"/>
          </a:solidFill>
          <a:ln xmlns:a="http://schemas.openxmlformats.org/drawingml/2006/main" w="9525">
            <a:solidFill>
              <a:srgbClr val="2F6F6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4B913A-50D6-40FF-B869-9ECDC8C3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01015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24px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0769FE1-D8DE-41A5-A46F-BE7F066D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86300"/>
            <a:ext cx="14097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6C"/>
          </a:solidFill>
          <a:ln xmlns:a="http://schemas.openxmlformats.org/drawingml/2006/main" w="9525">
            <a:solidFill>
              <a:srgbClr val="2F6F6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9FB33B2-6CC7-45D4-A18E-CC88C0A0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01015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32px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F58C12C-539F-4B12-8C9A-D4BEC23F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910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圆角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8C38265-FCC9-4C91-98E7-DF93A99F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48200"/>
            <a:ext cx="590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151990-A449-48FB-9E76-72F3711A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2006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8px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09B107D-0942-4D65-937F-66048477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648200"/>
            <a:ext cx="5905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494BE9F-C884-4EDE-BC02-C1F4DB6C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2006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12px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41A36DC-3541-4398-990A-784EDA13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648200"/>
            <a:ext cx="590550" cy="457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02E79DB-F951-4318-BC0A-118FDC5A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2006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18px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4F2D642-D1C2-46B1-AA06-DE9F1474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D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0543D95-DB62-4B73-9B72-DC587356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Case Filing Assistant · Canva Resource</a:t>
            </a:r>
          </a:p>
        </p:txBody>
      </p:sp>
    </p:spTree>
    <p:extLst>
      <p:ext uri="{BB962C8B-B14F-4D97-AF65-F5344CB8AC3E}">
        <p14:creationId xmlns:p14="http://schemas.microsoft.com/office/powerpoint/2010/main" val="3653637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EF2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47EC5D-0F6A-4200-8CCF-6148CDE8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6401E-D276-4D1D-8806-59E6C991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Header 与案件标题状态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CA0D8-7C03-4A11-9E9D-C7DFA9E0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381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B882B-3CFB-4086-AB65-D7F9223E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299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76D2B-9953-4B0F-88BA-3A09C2D6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执行依据上传前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E0C03-B8A8-4B63-AA32-424DDFC3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待上传执行依据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5C0BF-5E32-4B61-A15A-386043D0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95475"/>
            <a:ext cx="8763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8EEE1"/>
          </a:solidFill>
          <a:ln xmlns:a="http://schemas.openxmlformats.org/drawingml/2006/main" w="9525">
            <a:solidFill>
              <a:srgbClr val="F8EE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EBE88-E0D2-4ED3-83C1-B571235B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241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D6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D6D2C"/>
                </a:solidFill>
                <a:latin typeface="Microsoft YaHei"/>
                <a:ea typeface="Microsoft YaHei"/>
                <a:cs typeface="Microsoft YaHei"/>
              </a:rPr>
              <a:t>上传并识别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956C92-2226-49D2-986B-139F55AB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573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执行依据上传后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D68AAA-9C99-4E8E-9208-3A8DDF1E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812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（2026）示例民初 001 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412946-48AD-4B1B-8414-49A79215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622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标题来自上传件识别，仍需用户复核确认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BE2241-B7B5-4748-A91D-95DA2F03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四步流程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1F8E58-34E5-4E8A-B29E-FCD57097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240030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4060D7-028A-4198-B2F8-B5E905AB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4B4A"/>
          </a:solidFill>
          <a:ln xmlns:a="http://schemas.openxmlformats.org/drawingml/2006/main" w="9525">
            <a:solidFill>
              <a:srgbClr val="214B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54D11-654E-4607-9060-45F25E2B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972CCD-727D-428C-A74D-BE121F92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当事人与依据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A1A352-37F6-4577-B24B-468F43FD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上传双方身份证与执行依据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D34332-24AC-4B6E-9C1C-560EFDBA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43300"/>
            <a:ext cx="240030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3641D4-BCE6-4355-AED4-F63E49B7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52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6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1117DB-E2C1-490D-A7F7-4FD1FC11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528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4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14B4A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E44355-9721-41D9-877B-963BB90F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32435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申请内容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994774-7B11-4DCF-B308-807C6B60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93395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从已上传执行依据提取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EE5C89-151A-42B0-9F06-2F84FD8D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43300"/>
            <a:ext cx="240030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D643C2-B3C5-43AB-BEC4-91E8BB8D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52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6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DA3230-97AF-49DD-8E41-9EEA9F6F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528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4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14B4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2AD3C2-AC35-400D-88D8-BADB29E7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2435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复核与确认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A7031E-BB9C-4894-9934-96841811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3395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逐项确认事实、来源与风险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CA786B-A4B6-4C32-9B24-A02EFE29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43300"/>
            <a:ext cx="240030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BC82C1-408E-418C-9276-1F1EF7E5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52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6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9120CC-2871-4DD4-9CDC-1C6FBBEE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528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4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14B4A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8AB90E-AC02-4529-8FD2-B05E1D35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32435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生成草稿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CF23CE-77B8-4CE9-A0D4-0BBD6B06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3395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仅生成供人工审阅的材料包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CECE38-B405-47CB-9916-9571C91B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D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86DDE7-2513-440C-A537-DCFDAD28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Case Filing Assistant · Canva Resource</a:t>
            </a:r>
          </a:p>
        </p:txBody>
      </p:sp>
    </p:spTree>
    <p:extLst>
      <p:ext uri="{BB962C8B-B14F-4D97-AF65-F5344CB8AC3E}">
        <p14:creationId xmlns:p14="http://schemas.microsoft.com/office/powerpoint/2010/main" val="19270639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F2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1A10F60-C875-482E-84BA-4891DAE6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COMPONENTS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3AF5A-1500-45DF-8DC1-590AD93A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录入与上传组件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3CB39-FCA0-4ADD-A3C3-4763FD8D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381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EE820-EE10-4CC5-AF41-5C05263A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762750" cy="4362450"/>
          </a:xfrm>
          <a:prstGeom xmlns:a="http://schemas.openxmlformats.org/drawingml/2006/main" prst="roundRect">
            <a:avLst>
              <a:gd name="adj" fmla="val 3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FCF802-877B-452E-99D3-DF1B4616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383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PartyIdentitySection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A14446-B333-4018-B455-58AD42B6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19250"/>
            <a:ext cx="1333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EE1"/>
          </a:solidFill>
          <a:ln xmlns:a="http://schemas.openxmlformats.org/drawingml/2006/main" w="9525">
            <a:solidFill>
              <a:srgbClr val="F8EE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EEC73-7EE4-44AD-B7FC-ECF032F3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192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D6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D6D2C"/>
                </a:solidFill>
                <a:latin typeface="Microsoft YaHei"/>
                <a:ea typeface="Microsoft YaHei"/>
                <a:cs typeface="Microsoft YaHei"/>
              </a:rPr>
              <a:t>申请执行人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70EF27-4C05-4A1F-97E4-C15BE402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30289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9525">
            <a:solidFill>
              <a:srgbClr val="BBD8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DC635-9FE7-465D-B663-953AFF29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24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05B"/>
          </a:solidFill>
          <a:ln xmlns:a="http://schemas.openxmlformats.org/drawingml/2006/main" w="9525">
            <a:solidFill>
              <a:srgbClr val="3370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1EA31C-312F-4D66-84CF-CDA80CF0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050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F9BC53-1E31-4404-8EFE-20A80459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860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身份证人像面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2FEC0-2BB8-4380-8128-56A211AC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590800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JPG / PNG / PDF，清晰无遮挡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D5C089-1D30-4687-9BFD-F0C46373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14550"/>
            <a:ext cx="30289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D11FFB-0B0E-426F-80B0-881EF40C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24100"/>
            <a:ext cx="41910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4F3F56-6E39-40F6-84B8-B130C621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050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14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4B4A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ED4554-FECF-4431-ABAD-EDD6ADA0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860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身份证国徽面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86F19A-1441-4FEF-B1F8-12699588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9080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781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JPG / PNG / PDF，清晰无遮挡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B8F35E-45D9-4E7B-9238-B0B259C8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71725"/>
            <a:ext cx="6286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97CBD5-497A-4454-92D0-DBE54EE1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717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14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14B4A"/>
                </a:solidFill>
                <a:latin typeface="Microsoft YaHei"/>
                <a:ea typeface="Microsoft YaHei"/>
                <a:cs typeface="Microsoft YaHei"/>
              </a:rPr>
              <a:t>上传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816ABF-EB69-46B7-A8CD-14E9D41F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600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字段识别后仍需人工核对；上传件不作为演示素材提交。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CA1766-420C-42ED-B0E0-B391FB07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3009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姓名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D2ABFC-27AC-4273-8D4A-2FB6B563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30099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BC1F0E-1512-4E00-8015-C7437382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57625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陈某某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2D27B3-5873-4040-94D9-1F504BAC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971925"/>
            <a:ext cx="742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9525">
            <a:solidFill>
              <a:srgbClr val="E8F3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ABD5ED-BAC9-491F-B550-929A332C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97192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370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3705B"/>
                </a:solidFill>
                <a:latin typeface="Microsoft YaHei"/>
                <a:ea typeface="Microsoft YaHei"/>
                <a:cs typeface="Microsoft YaHei"/>
              </a:rPr>
              <a:t>已确认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FB7245-A3B9-42CD-9D04-E90D963D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19500"/>
            <a:ext cx="3028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身份证号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9D25E9-341E-4647-BC67-4A82F43C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57625"/>
            <a:ext cx="30289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B87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D5447C-B146-408D-A3BA-DB3172B7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57625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1101**********001X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80A319-3990-4074-913B-F7171A12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71925"/>
            <a:ext cx="742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C"/>
          </a:solidFill>
          <a:ln xmlns:a="http://schemas.openxmlformats.org/drawingml/2006/main" w="9525">
            <a:solidFill>
              <a:srgbClr val="FFF5D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B1ADFB-6501-4BBB-87CC-6DA2FFD1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7192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7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A671F"/>
                </a:solidFill>
                <a:latin typeface="Microsoft YaHei"/>
                <a:ea typeface="Microsoft YaHei"/>
                <a:cs typeface="Microsoft YaHei"/>
              </a:rPr>
              <a:t>待确认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D0394A-9E36-4306-9FDD-7FDB21AF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914900"/>
            <a:ext cx="19812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214B4A"/>
          </a:solidFill>
          <a:ln xmlns:a="http://schemas.openxmlformats.org/drawingml/2006/main" w="9525">
            <a:solidFill>
              <a:srgbClr val="214B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7B888B-25DF-4F5F-8E04-61DF083C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9149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保存并继续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3BC11E-F3DA-4D50-98BB-9F0F7F45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28750"/>
            <a:ext cx="3619500" cy="43624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81555E-21F5-4B0A-9C75-9793502B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38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ActionButton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CD4F96-858E-40CF-ACB2-ECA7457D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95500"/>
            <a:ext cx="14287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214B4A"/>
          </a:solidFill>
          <a:ln xmlns:a="http://schemas.openxmlformats.org/drawingml/2006/main" w="9525">
            <a:solidFill>
              <a:srgbClr val="214B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A463FC-00AB-46F7-86D5-98429E18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主要操作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424645-52B6-49F4-BF1D-CA20D99D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95500"/>
            <a:ext cx="14287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B5F191-DF82-40E7-9009-426F1308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95500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14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14B4A"/>
                </a:solidFill>
                <a:latin typeface="Microsoft YaHei"/>
                <a:ea typeface="Microsoft YaHei"/>
                <a:cs typeface="Microsoft YaHei"/>
              </a:rPr>
              <a:t>次要操作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3684F1-BDF9-4AC5-BC33-477A61DF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86050"/>
            <a:ext cx="14287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1E7E5"/>
          </a:solidFill>
          <a:ln xmlns:a="http://schemas.openxmlformats.org/drawingml/2006/main" w="9525">
            <a:solidFill>
              <a:srgbClr val="E1E7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AAC5FE-0D34-4A97-A1E8-D480448E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86050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1A0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1A09E"/>
                </a:solidFill>
                <a:latin typeface="Microsoft YaHei"/>
                <a:ea typeface="Microsoft YaHei"/>
                <a:cs typeface="Microsoft YaHei"/>
              </a:rPr>
              <a:t>不可用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DBC40B-F3D9-4391-962C-FC87C528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86050"/>
            <a:ext cx="14287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CECEA"/>
          </a:solidFill>
          <a:ln xmlns:a="http://schemas.openxmlformats.org/drawingml/2006/main" w="9525">
            <a:solidFill>
              <a:srgbClr val="E8B8B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3C2B24-9A5B-49CC-9AB1-6FEFB78F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86050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343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3433D"/>
                </a:solidFill>
                <a:latin typeface="Microsoft YaHei"/>
                <a:ea typeface="Microsoft YaHei"/>
                <a:cs typeface="Microsoft YaHei"/>
              </a:rPr>
              <a:t>移除材料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D464FE1-0992-44D5-AAAD-15109D02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86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StatusBadge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9A44341-217A-4DAE-9107-F7CEF6F8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62400"/>
            <a:ext cx="876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C"/>
          </a:solidFill>
          <a:ln xmlns:a="http://schemas.openxmlformats.org/drawingml/2006/main" w="9525">
            <a:solidFill>
              <a:srgbClr val="FFF5D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D56BB7E-8D40-4305-861D-106FC135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624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7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A671F"/>
                </a:solidFill>
                <a:latin typeface="Microsoft YaHei"/>
                <a:ea typeface="Microsoft YaHei"/>
                <a:cs typeface="Microsoft YaHei"/>
              </a:rPr>
              <a:t>待确认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72056AC-D773-402A-BA37-321E20DA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62400"/>
            <a:ext cx="876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9525">
            <a:solidFill>
              <a:srgbClr val="E8F3E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D38021C-9478-4608-9F35-6B48D72F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9624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370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3705B"/>
                </a:solidFill>
                <a:latin typeface="Microsoft YaHei"/>
                <a:ea typeface="Microsoft YaHei"/>
                <a:cs typeface="Microsoft YaHei"/>
              </a:rPr>
              <a:t>已确认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19A72CD-5589-41DC-BF53-6B1BE94B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962400"/>
            <a:ext cx="876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CEA"/>
          </a:solidFill>
          <a:ln xmlns:a="http://schemas.openxmlformats.org/drawingml/2006/main" w="9525">
            <a:solidFill>
              <a:srgbClr val="FCEC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B32F43D-A275-4AE0-B5B2-9FE59B97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624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343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3433D"/>
                </a:solidFill>
                <a:latin typeface="Microsoft YaHei"/>
                <a:ea typeface="Microsoft YaHei"/>
                <a:cs typeface="Microsoft YaHei"/>
              </a:rPr>
              <a:t>需修正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94E077E-8535-4CB0-B049-75621D39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482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状态颜色不能单独承载含义；始终保留文字标签。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4FB6922-AF5D-4BE0-9A53-4B2F8DE9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D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5B57BA2-1DE5-491F-A0B2-7CA6DE6E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Case Filing Assistant · Canva Resource</a:t>
            </a:r>
          </a:p>
        </p:txBody>
      </p:sp>
    </p:spTree>
    <p:extLst>
      <p:ext uri="{BB962C8B-B14F-4D97-AF65-F5344CB8AC3E}">
        <p14:creationId xmlns:p14="http://schemas.microsoft.com/office/powerpoint/2010/main" val="12881664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2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5989426-CFCD-4BCD-8A33-BC693C0D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COMPONENTS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B3404-E968-43E5-8D21-4B1D67E6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复核、来源与导出组件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0FB63-6ED9-4636-A55F-9BF6BD16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381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D8D6FF-0B28-4888-A9D3-DEEC3B6D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143500" cy="4362450"/>
          </a:xfrm>
          <a:prstGeom xmlns:a="http://schemas.openxmlformats.org/drawingml/2006/main" prst="roundRect">
            <a:avLst>
              <a:gd name="adj" fmla="val 3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88153-DB76-435C-A312-AFC3309B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38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SourceField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E388FF-DEC4-4AE9-BF45-5A6758B8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468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执行案号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87241-CB49-422C-99FA-9B1E289F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14575"/>
            <a:ext cx="46863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B477D-C90F-4D90-ACAC-7306A78E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14575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（2026）示例民初 001 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3B43F-C18E-4297-806B-B330E852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28875"/>
            <a:ext cx="742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9525">
            <a:solidFill>
              <a:srgbClr val="E8F3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38CAEE-8A92-40A9-9FC2-C01E4DFB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288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370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3705B"/>
                </a:solidFill>
                <a:latin typeface="Microsoft YaHei"/>
                <a:ea typeface="Microsoft YaHei"/>
                <a:cs typeface="Microsoft YaHei"/>
              </a:rPr>
              <a:t>已确认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125212-A622-4020-8A2F-B5E8119B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468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履行期限届满日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E32B6-9580-4DBF-84D2-B497D42E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24225"/>
            <a:ext cx="46863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B87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EE6FAB-ECAF-48E4-AF4C-DE10FD57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24225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2026-04-30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66CE7B-2646-494E-8075-6ECC7A0B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38525"/>
            <a:ext cx="742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C"/>
          </a:solidFill>
          <a:ln xmlns:a="http://schemas.openxmlformats.org/drawingml/2006/main" w="9525">
            <a:solidFill>
              <a:srgbClr val="FFF5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7D5EB5-FE03-4A62-AEBC-D9AD2B83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3852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7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A671F"/>
                </a:solidFill>
                <a:latin typeface="Microsoft YaHei"/>
                <a:ea typeface="Microsoft YaHei"/>
                <a:cs typeface="Microsoft YaHei"/>
              </a:rPr>
              <a:t>待确认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657382-5AC9-49BB-9BEC-4E763157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点击来源可打开原材料定位；所有关键字段保留来源、置信度和确认状态。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7CD88D-0D13-4E9F-A02D-4C08FCF4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16764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BA3D38-28F5-4D27-9C49-11C84C24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10150"/>
            <a:ext cx="140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14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14B4A"/>
                </a:solidFill>
                <a:latin typeface="Microsoft YaHei"/>
                <a:ea typeface="Microsoft YaHei"/>
                <a:cs typeface="Microsoft YaHei"/>
              </a:rPr>
              <a:t>查看原文位置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C6850E-803B-4B5D-AF21-415D7431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28750"/>
            <a:ext cx="5238750" cy="4362450"/>
          </a:xfrm>
          <a:prstGeom xmlns:a="http://schemas.openxmlformats.org/drawingml/2006/main" prst="roundRect">
            <a:avLst>
              <a:gd name="adj" fmla="val 3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D382BD-172A-4142-B136-C894B0A8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38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IssueRow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C0CB7B-48C0-4491-AAE1-43E7FBB2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95500"/>
            <a:ext cx="478155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CC8EA2-C128-4470-8D02-6B5DF4D1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身份证号需要再次核对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5D1414-FCB2-4256-9F95-E0D62F7C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00275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C"/>
          </a:solidFill>
          <a:ln xmlns:a="http://schemas.openxmlformats.org/drawingml/2006/main" w="9525">
            <a:solidFill>
              <a:srgbClr val="FFF5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3309E9-49B6-4D86-9F82-15152F96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00275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7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A671F"/>
                </a:solidFill>
                <a:latin typeface="Microsoft YaHei"/>
                <a:ea typeface="Microsoft YaHei"/>
                <a:cs typeface="Microsoft YaHei"/>
              </a:rPr>
              <a:t>待确认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675971-11D9-4EF2-8283-DC0C11D6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62250"/>
            <a:ext cx="478155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BF2466-DFC9-497A-95E8-086B4166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62250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执行依据案号已确认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E4EE49-E5CC-4434-B069-37BE4496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67025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9525">
            <a:solidFill>
              <a:srgbClr val="E8F3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0C65E1-6105-4709-AB70-5DB078E7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67025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370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3705B"/>
                </a:solidFill>
                <a:latin typeface="Microsoft YaHei"/>
                <a:ea typeface="Microsoft YaHei"/>
                <a:cs typeface="Microsoft YaHei"/>
              </a:rPr>
              <a:t>已确认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0E3ACB-8FD3-4FF9-AA82-DF8767D7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29000"/>
            <a:ext cx="478155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F9A42B-2CA7-4A87-BA29-D6874902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申请事项存在冲突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BAAF8C-2297-4590-990B-D9F3D31B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533775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CEA"/>
          </a:solidFill>
          <a:ln xmlns:a="http://schemas.openxmlformats.org/drawingml/2006/main" w="9525">
            <a:solidFill>
              <a:srgbClr val="FCEC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8F18E6-928C-4208-944E-5B1B05B2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33775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343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3433D"/>
                </a:solidFill>
                <a:latin typeface="Microsoft YaHei"/>
                <a:ea typeface="Microsoft YaHei"/>
                <a:cs typeface="Microsoft YaHei"/>
              </a:rPr>
              <a:t>需修正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481E2C-57F7-406D-97E0-4C4A2CC2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24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ConfirmBand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DAFA0C-6037-4292-A2C0-729644F1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43450"/>
            <a:ext cx="47815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AF8F2"/>
          </a:solidFill>
          <a:ln xmlns:a="http://schemas.openxmlformats.org/drawingml/2006/main" w="9525">
            <a:solidFill>
              <a:srgbClr val="E8DFC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5A8E9A-36D6-46A3-A009-E495AD3D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24425"/>
            <a:ext cx="228600" cy="2286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7C308B-DC26-4270-81E6-79851104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244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14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14B4A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81991E-5552-499D-B03C-C71587C6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8482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我已逐项核对并确认当前草稿信息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C8F5DB-B00C-434C-A942-2357FF17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876800"/>
            <a:ext cx="9906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214B4A"/>
          </a:solidFill>
          <a:ln xmlns:a="http://schemas.openxmlformats.org/drawingml/2006/main" w="9525">
            <a:solidFill>
              <a:srgbClr val="214B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1C922D-5789-42D0-BA30-B97E3F78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876800"/>
            <a:ext cx="72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生成草稿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829EAF-16EF-4405-8898-5E024B31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E82D06-2A55-48FE-B897-B13DD7C0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Case Filing Assistant · Canva Resource</a:t>
            </a:r>
          </a:p>
        </p:txBody>
      </p:sp>
    </p:spTree>
    <p:extLst>
      <p:ext uri="{BB962C8B-B14F-4D97-AF65-F5344CB8AC3E}">
        <p14:creationId xmlns:p14="http://schemas.microsoft.com/office/powerpoint/2010/main" val="1739569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9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0E600B-AFF8-4C41-AAF5-0DD34696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CC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9CCCA"/>
                </a:solidFill>
                <a:latin typeface="Microsoft YaHei"/>
                <a:ea typeface="Microsoft YaHei"/>
                <a:cs typeface="Microsoft YaHei"/>
              </a:rPr>
              <a:t>MOTION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82BC8-F4BB-4D78-8285-9734C399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动效系统与可访问性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84022-6D67-406A-9C1E-36C483DA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381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9CC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9CCC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9DFDA-26F4-450D-9AC7-A9884477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400300" cy="2266950"/>
          </a:xfrm>
          <a:prstGeom xmlns:a="http://schemas.openxmlformats.org/drawingml/2006/main" prst="roundRect">
            <a:avLst>
              <a:gd name="adj" fmla="val 7563"/>
            </a:avLst>
          </a:prstGeom>
          <a:solidFill xmlns:a="http://schemas.openxmlformats.org/drawingml/2006/main">
            <a:srgbClr val="173536"/>
          </a:solidFill>
          <a:ln xmlns:a="http://schemas.openxmlformats.org/drawingml/2006/main" w="9525">
            <a:solidFill>
              <a:srgbClr val="355B5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0E8EBB-30CF-4842-8497-8EA1E69C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D6D2C"/>
          </a:solidFill>
          <a:ln xmlns:a="http://schemas.openxmlformats.org/drawingml/2006/main" w="9525">
            <a:solidFill>
              <a:srgbClr val="AD6D2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2AF23-8E3A-4072-9C58-999AD807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140 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1F3888-1F9C-4FF8-A69E-B4F19572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9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D9D6"/>
                </a:solidFill>
                <a:latin typeface="Microsoft YaHei"/>
                <a:ea typeface="Microsoft YaHei"/>
                <a:cs typeface="Microsoft YaHei"/>
              </a:rPr>
              <a:t>微反馈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95551-5BE3-4D77-B6C8-D480EE65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8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FB8B4"/>
                </a:solidFill>
                <a:latin typeface="Microsoft YaHei"/>
                <a:ea typeface="Microsoft YaHei"/>
                <a:cs typeface="Microsoft YaHei"/>
              </a:rPr>
              <a:t>按钮按下、标签切换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C1F6CB-F62B-4FD1-84AF-BA2E6B6E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581150"/>
            <a:ext cx="2400300" cy="2266950"/>
          </a:xfrm>
          <a:prstGeom xmlns:a="http://schemas.openxmlformats.org/drawingml/2006/main" prst="roundRect">
            <a:avLst>
              <a:gd name="adj" fmla="val 7563"/>
            </a:avLst>
          </a:prstGeom>
          <a:solidFill xmlns:a="http://schemas.openxmlformats.org/drawingml/2006/main">
            <a:srgbClr val="173536"/>
          </a:solidFill>
          <a:ln xmlns:a="http://schemas.openxmlformats.org/drawingml/2006/main" w="9525">
            <a:solidFill>
              <a:srgbClr val="355B5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1FFF5D-3378-45E7-A605-05FB43F0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09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6C"/>
          </a:solidFill>
          <a:ln xmlns:a="http://schemas.openxmlformats.org/drawingml/2006/main" w="9525">
            <a:solidFill>
              <a:srgbClr val="2F6F6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2F8D43-46D1-4220-99F1-09CCA892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71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220 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99CFCF-6C0A-4D22-AFD5-D64368DE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48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9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D9D6"/>
                </a:solidFill>
                <a:latin typeface="Microsoft YaHei"/>
                <a:ea typeface="Microsoft YaHei"/>
                <a:cs typeface="Microsoft YaHei"/>
              </a:rPr>
              <a:t>组件过渡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4CB756-202D-431F-BC1E-C332F3AE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290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8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FB8B4"/>
                </a:solidFill>
                <a:latin typeface="Microsoft YaHei"/>
                <a:ea typeface="Microsoft YaHei"/>
                <a:cs typeface="Microsoft YaHei"/>
              </a:rPr>
              <a:t>卡片、字段、提示出现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5E6623-FCA6-48DC-BD52-2F4774EC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81150"/>
            <a:ext cx="2400300" cy="2266950"/>
          </a:xfrm>
          <a:prstGeom xmlns:a="http://schemas.openxmlformats.org/drawingml/2006/main" prst="roundRect">
            <a:avLst>
              <a:gd name="adj" fmla="val 7563"/>
            </a:avLst>
          </a:prstGeom>
          <a:solidFill xmlns:a="http://schemas.openxmlformats.org/drawingml/2006/main">
            <a:srgbClr val="173536"/>
          </a:solidFill>
          <a:ln xmlns:a="http://schemas.openxmlformats.org/drawingml/2006/main" w="9525">
            <a:solidFill>
              <a:srgbClr val="355B5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2FDC48-D096-4989-B518-5695BF87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05B"/>
          </a:solidFill>
          <a:ln xmlns:a="http://schemas.openxmlformats.org/drawingml/2006/main" w="9525">
            <a:solidFill>
              <a:srgbClr val="3370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F8F5B7-91B4-4A9A-AA4E-FB224093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71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420 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35B91D-6D7A-4D9E-ADC3-D5843ECD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48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9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D9D6"/>
                </a:solidFill>
                <a:latin typeface="Microsoft YaHei"/>
                <a:ea typeface="Microsoft YaHei"/>
                <a:cs typeface="Microsoft YaHei"/>
              </a:rPr>
              <a:t>页面状态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3F6AF4-8BC2-4E33-A3FA-61AD279C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290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8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FB8B4"/>
                </a:solidFill>
                <a:latin typeface="Microsoft YaHei"/>
                <a:ea typeface="Microsoft YaHei"/>
                <a:cs typeface="Microsoft YaHei"/>
              </a:rPr>
              <a:t>上传完成、步骤切换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BDA4A2-98A5-4A6E-8F74-807D7810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581150"/>
            <a:ext cx="2400300" cy="2266950"/>
          </a:xfrm>
          <a:prstGeom xmlns:a="http://schemas.openxmlformats.org/drawingml/2006/main" prst="roundRect">
            <a:avLst>
              <a:gd name="adj" fmla="val 7563"/>
            </a:avLst>
          </a:prstGeom>
          <a:solidFill xmlns:a="http://schemas.openxmlformats.org/drawingml/2006/main">
            <a:srgbClr val="173536"/>
          </a:solidFill>
          <a:ln xmlns:a="http://schemas.openxmlformats.org/drawingml/2006/main" w="9525">
            <a:solidFill>
              <a:srgbClr val="355B5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F2FF17-163D-4AE6-80D9-C367C135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671F"/>
          </a:solidFill>
          <a:ln xmlns:a="http://schemas.openxmlformats.org/drawingml/2006/main" w="9525">
            <a:solidFill>
              <a:srgbClr val="9A671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43000E-24CA-4F9B-B6AF-4A314D1A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900 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9D5A69-E10D-4010-8C57-5B71A4DD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48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9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D9D6"/>
                </a:solidFill>
                <a:latin typeface="Microsoft YaHei"/>
                <a:ea typeface="Microsoft YaHei"/>
                <a:cs typeface="Microsoft YaHei"/>
              </a:rPr>
              <a:t>强调动效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E26DAC-0781-44BB-B79C-4611749B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290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8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FB8B4"/>
                </a:solidFill>
                <a:latin typeface="Microsoft YaHei"/>
                <a:ea typeface="Microsoft YaHei"/>
                <a:cs typeface="Microsoft YaHei"/>
              </a:rPr>
              <a:t>仅用于一次性完成反馈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AF57A9-C656-467D-9233-A9449858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299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173536"/>
          </a:solidFill>
          <a:ln xmlns:a="http://schemas.openxmlformats.org/drawingml/2006/main" w="9525">
            <a:solidFill>
              <a:srgbClr val="355B5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04922F-6535-49F8-8BC0-B7BEED66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减少动态效果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0D187A-F029-4A19-B148-E1633A78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B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7CBC8"/>
                </a:solidFill>
                <a:latin typeface="Microsoft YaHei"/>
                <a:ea typeface="Microsoft YaHei"/>
                <a:cs typeface="Microsoft YaHei"/>
              </a:rPr>
              <a:t>检测 prefers-reduced-motion 后关闭位移动画与循环动效，保留必要的状态变化和焦点反馈。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2DAE09-914A-42F6-ACB3-D8125062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10100"/>
            <a:ext cx="1504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EE1"/>
          </a:solidFill>
          <a:ln xmlns:a="http://schemas.openxmlformats.org/drawingml/2006/main" w="9525">
            <a:solidFill>
              <a:srgbClr val="F8EE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F9D29F-9680-4801-9363-B00F46F3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6101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D6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D6D2C"/>
                </a:solidFill>
                <a:latin typeface="Microsoft YaHei"/>
                <a:ea typeface="Microsoft YaHei"/>
                <a:cs typeface="Microsoft YaHei"/>
              </a:rPr>
              <a:t>无循环装饰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D13A70-7C87-416D-B13C-96F431BA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086350"/>
            <a:ext cx="1504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9525">
            <a:solidFill>
              <a:srgbClr val="E8F3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4D1F4D-6D9D-4245-BFAA-DEAB0FD6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0863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370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3705B"/>
                </a:solidFill>
                <a:latin typeface="Microsoft YaHei"/>
                <a:ea typeface="Microsoft YaHei"/>
                <a:cs typeface="Microsoft YaHei"/>
              </a:rPr>
              <a:t>状态可读</a:t>
            </a:r>
          </a:p>
        </p:txBody>
      </p:sp>
    </p:spTree>
    <p:extLst>
      <p:ext uri="{BB962C8B-B14F-4D97-AF65-F5344CB8AC3E}">
        <p14:creationId xmlns:p14="http://schemas.microsoft.com/office/powerpoint/2010/main" val="14582676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EF2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2FA40F-B14F-4A37-AD6C-D4D5C106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SCREEN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F0E14-BC44-48F7-85F5-F2D1EF2B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2038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首页 · 适用条件确认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BE1D0-F6D9-4556-A30F-3C0CD94F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四项条件编号列出；单个复选框确认后才允许新建。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C085B-3F4C-4AF4-A793-C813A793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90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首页强调适用边界，不把复杂案件引入 MVP。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F2108-0175-434A-A088-87AC12DE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647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4B4A"/>
          </a:solidFill>
          <a:ln xmlns:a="http://schemas.openxmlformats.org/drawingml/2006/main" w="9525">
            <a:solidFill>
              <a:srgbClr val="214B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8E9BF-6760-49A8-A071-495BE53C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F3C44-D3CD-47D4-AB0B-ABC370F5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666750"/>
            <a:ext cx="8934450" cy="5695950"/>
          </a:xfrm>
          <a:prstGeom xmlns:a="http://schemas.openxmlformats.org/drawingml/2006/main" prst="roundRect">
            <a:avLst>
              <a:gd name="adj" fmla="val 33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d13a63aab04396"/>
          <a:stretch xmlns:a="http://schemas.openxmlformats.org/drawingml/2006/main"/>
        </p:blipFill>
        <p:spPr>
          <a:xfrm xmlns:a="http://schemas.openxmlformats.org/drawingml/2006/main">
            <a:off x="3189182" y="781050"/>
            <a:ext cx="7775787" cy="5467350"/>
          </a:xfrm>
          <a:prstGeom xmlns:a="http://schemas.openxmlformats.org/drawingml/2006/main" prst="roundRect">
            <a:avLst>
              <a:gd name="adj" fmla="val 2091"/>
            </a:avLst>
          </a:prstGeom>
        </p:spPr>
      </p:pic>
    </p:spTree>
    <p:extLst>
      <p:ext uri="{BB962C8B-B14F-4D97-AF65-F5344CB8AC3E}">
        <p14:creationId xmlns:p14="http://schemas.microsoft.com/office/powerpoint/2010/main" val="9860653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EF2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78CEB1-2839-4732-AA3F-B385188C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SCREEN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2F1DD1-54EF-4900-A1D3-2FA77A6C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2038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步骤 1 · 待上传执行依据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B3DDE-83E9-4A61-A876-C8625E43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Header 在上传前明确显示“待上传执行依据”。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CDA48-31CC-4D6F-B889-04E520AA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90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当事人从身份证正反面上传开始。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FBBFA2-1F78-4F2E-BBD0-70769877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647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4B4A"/>
          </a:solidFill>
          <a:ln xmlns:a="http://schemas.openxmlformats.org/drawingml/2006/main" w="9525">
            <a:solidFill>
              <a:srgbClr val="214B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C2B4AF-18A6-465D-BD76-227048CC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41141-99A7-4196-88A1-71937857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666750"/>
            <a:ext cx="8934450" cy="5695950"/>
          </a:xfrm>
          <a:prstGeom xmlns:a="http://schemas.openxmlformats.org/drawingml/2006/main" prst="roundRect">
            <a:avLst>
              <a:gd name="adj" fmla="val 33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bd91e544ae42ad"/>
          <a:stretch xmlns:a="http://schemas.openxmlformats.org/drawingml/2006/main"/>
        </p:blipFill>
        <p:spPr>
          <a:xfrm xmlns:a="http://schemas.openxmlformats.org/drawingml/2006/main">
            <a:off x="3189182" y="781050"/>
            <a:ext cx="7775787" cy="5467350"/>
          </a:xfrm>
          <a:prstGeom xmlns:a="http://schemas.openxmlformats.org/drawingml/2006/main" prst="roundRect">
            <a:avLst>
              <a:gd name="adj" fmla="val 2091"/>
            </a:avLst>
          </a:prstGeom>
        </p:spPr>
      </p:pic>
    </p:spTree>
    <p:extLst>
      <p:ext uri="{BB962C8B-B14F-4D97-AF65-F5344CB8AC3E}">
        <p14:creationId xmlns:p14="http://schemas.microsoft.com/office/powerpoint/2010/main" val="11765333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EF2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9CFC93-31C3-4522-BC7C-46EF90D1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SCREEN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AF5DD-2F80-4B23-BE15-33E9DCAC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2038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步骤 1 · 已识别材料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CA9A3-8AE4-4EE4-A37C-D8485DE9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上传后，识别到的案号替换 Header 标题。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2EF8F-0F26-4E4C-9FFA-63B7E191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90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所有识别字段仍需来源与人工确认。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371AE4-C5FF-4A3C-81C3-339DAF54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647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4B4A"/>
          </a:solidFill>
          <a:ln xmlns:a="http://schemas.openxmlformats.org/drawingml/2006/main" w="9525">
            <a:solidFill>
              <a:srgbClr val="214B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776D0-19C9-422A-B23D-3CAEB4F1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C7E87B-E70B-4338-B937-F791FC54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666750"/>
            <a:ext cx="8934450" cy="5695950"/>
          </a:xfrm>
          <a:prstGeom xmlns:a="http://schemas.openxmlformats.org/drawingml/2006/main" prst="roundRect">
            <a:avLst>
              <a:gd name="adj" fmla="val 33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4e2334a8924a4e"/>
          <a:stretch xmlns:a="http://schemas.openxmlformats.org/drawingml/2006/main"/>
        </p:blipFill>
        <p:spPr>
          <a:xfrm xmlns:a="http://schemas.openxmlformats.org/drawingml/2006/main">
            <a:off x="3189182" y="781050"/>
            <a:ext cx="7775787" cy="5467350"/>
          </a:xfrm>
          <a:prstGeom xmlns:a="http://schemas.openxmlformats.org/drawingml/2006/main" prst="roundRect">
            <a:avLst>
              <a:gd name="adj" fmla="val 2091"/>
            </a:avLst>
          </a:prstGeom>
        </p:spPr>
      </p:pic>
    </p:spTree>
    <p:extLst>
      <p:ext uri="{BB962C8B-B14F-4D97-AF65-F5344CB8AC3E}">
        <p14:creationId xmlns:p14="http://schemas.microsoft.com/office/powerpoint/2010/main" val="17649830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EF2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7200A-E62C-4D2E-942D-3623F7C6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SCREEN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8DD5EB-835D-42C8-9AA4-C1B4F82A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2038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步骤 2 · 申请内容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9E215-DC76-470F-B905-01991361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申请事项从上一步执行依据中提取。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86E4C-4179-41EB-B33B-F9BD9C82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90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避免用户重复录入，保留冲突与不确定项提示。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90D942-C20B-4F74-82ED-FD551CA3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647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4B4A"/>
          </a:solidFill>
          <a:ln xmlns:a="http://schemas.openxmlformats.org/drawingml/2006/main" w="9525">
            <a:solidFill>
              <a:srgbClr val="214B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1978E-1A25-49E6-BA3C-F731F7E6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409E6C-A062-45E2-AE5E-591F60DD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666750"/>
            <a:ext cx="8934450" cy="5695950"/>
          </a:xfrm>
          <a:prstGeom xmlns:a="http://schemas.openxmlformats.org/drawingml/2006/main" prst="roundRect">
            <a:avLst>
              <a:gd name="adj" fmla="val 33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591dd1636b4cc0"/>
          <a:stretch xmlns:a="http://schemas.openxmlformats.org/drawingml/2006/main"/>
        </p:blipFill>
        <p:spPr>
          <a:xfrm xmlns:a="http://schemas.openxmlformats.org/drawingml/2006/main">
            <a:off x="3189182" y="781050"/>
            <a:ext cx="7775787" cy="5467350"/>
          </a:xfrm>
          <a:prstGeom xmlns:a="http://schemas.openxmlformats.org/drawingml/2006/main" prst="roundRect">
            <a:avLst>
              <a:gd name="adj" fmla="val 2091"/>
            </a:avLst>
          </a:prstGeom>
        </p:spPr>
      </p:pic>
    </p:spTree>
    <p:extLst>
      <p:ext uri="{BB962C8B-B14F-4D97-AF65-F5344CB8AC3E}">
        <p14:creationId xmlns:p14="http://schemas.microsoft.com/office/powerpoint/2010/main" val="19133265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EF2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7DB08-CA74-4F6B-BBFE-BEA99589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SCREEN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33E58-9E0A-420A-A7EB-B98D6BF9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2038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步骤 3 · 复核与确认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24B76-0762-4C2F-8CA0-681B4A44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逐项确认事实、来源、置信度和风险。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8BF34-5AA9-4C26-8F7E-3F1E23F2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90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未确认项会阻断草稿生成。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27A0B-7B8E-4401-A56A-C9B2186C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647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4B4A"/>
          </a:solidFill>
          <a:ln xmlns:a="http://schemas.openxmlformats.org/drawingml/2006/main" w="9525">
            <a:solidFill>
              <a:srgbClr val="214B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3D4E99-C2AF-4313-AF0D-D17FB6BE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01C180-B12F-4FB5-8851-A097B428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666750"/>
            <a:ext cx="8934450" cy="5695950"/>
          </a:xfrm>
          <a:prstGeom xmlns:a="http://schemas.openxmlformats.org/drawingml/2006/main" prst="roundRect">
            <a:avLst>
              <a:gd name="adj" fmla="val 33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4c66d2001341b1"/>
          <a:stretch xmlns:a="http://schemas.openxmlformats.org/drawingml/2006/main"/>
        </p:blipFill>
        <p:spPr>
          <a:xfrm xmlns:a="http://schemas.openxmlformats.org/drawingml/2006/main">
            <a:off x="3189182" y="781050"/>
            <a:ext cx="7775787" cy="5467350"/>
          </a:xfrm>
          <a:prstGeom xmlns:a="http://schemas.openxmlformats.org/drawingml/2006/main" prst="roundRect">
            <a:avLst>
              <a:gd name="adj" fmla="val 2091"/>
            </a:avLst>
          </a:prstGeom>
        </p:spPr>
      </p:pic>
    </p:spTree>
    <p:extLst>
      <p:ext uri="{BB962C8B-B14F-4D97-AF65-F5344CB8AC3E}">
        <p14:creationId xmlns:p14="http://schemas.microsoft.com/office/powerpoint/2010/main" val="10855653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EF2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C0CDD0-91D9-4541-8063-7BAD27E1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SCREEN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D27B53-B7BF-447D-898E-3390EB2B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2038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步骤 4 · 草稿导出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2EE178-023D-494D-910F-763F7BAC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仅生成可人工审阅的材料包草稿。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F46AF-2CBF-473F-B624-A8435E15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90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不自动立案、不提交、不联系法院。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18880-3C40-4005-BA1A-47D7D564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647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4B4A"/>
          </a:solidFill>
          <a:ln xmlns:a="http://schemas.openxmlformats.org/drawingml/2006/main" w="9525">
            <a:solidFill>
              <a:srgbClr val="214B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60EB28-52C8-4FD8-B356-14B0DDF7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DDBA9D-DF8B-42B8-B4FC-333C61DB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666750"/>
            <a:ext cx="8934450" cy="5695950"/>
          </a:xfrm>
          <a:prstGeom xmlns:a="http://schemas.openxmlformats.org/drawingml/2006/main" prst="roundRect">
            <a:avLst>
              <a:gd name="adj" fmla="val 33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c9295370a04c11"/>
          <a:stretch xmlns:a="http://schemas.openxmlformats.org/drawingml/2006/main"/>
        </p:blipFill>
        <p:spPr>
          <a:xfrm xmlns:a="http://schemas.openxmlformats.org/drawingml/2006/main">
            <a:off x="3189182" y="781050"/>
            <a:ext cx="7775787" cy="5467350"/>
          </a:xfrm>
          <a:prstGeom xmlns:a="http://schemas.openxmlformats.org/drawingml/2006/main" prst="roundRect">
            <a:avLst>
              <a:gd name="adj" fmla="val 2091"/>
            </a:avLst>
          </a:prstGeom>
        </p:spPr>
      </p:pic>
    </p:spTree>
    <p:extLst>
      <p:ext uri="{BB962C8B-B14F-4D97-AF65-F5344CB8AC3E}">
        <p14:creationId xmlns:p14="http://schemas.microsoft.com/office/powerpoint/2010/main" val="6666107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EF2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563D6-E1B0-466A-B200-EE16384E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SCREEN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E4BCA-BD8B-4A76-8649-174CCB54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2038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不适用状态 · 明确阻断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64E02-6BFB-4774-9035-3F78A1F6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不支持的复杂场景直接阻断并解释原因。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8CEF97-3D12-4860-850A-9F063395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90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不增加隐藏路径或未经设计的早期能力。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04A8A-CA95-4110-84F5-C66C5AC1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647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4B4A"/>
          </a:solidFill>
          <a:ln xmlns:a="http://schemas.openxmlformats.org/drawingml/2006/main" w="9525">
            <a:solidFill>
              <a:srgbClr val="214B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A1711-755A-413D-B6BE-C77DC093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A388B-C023-43A7-8CEF-46C46484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666750"/>
            <a:ext cx="8934450" cy="5695950"/>
          </a:xfrm>
          <a:prstGeom xmlns:a="http://schemas.openxmlformats.org/drawingml/2006/main" prst="roundRect">
            <a:avLst>
              <a:gd name="adj" fmla="val 33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bcb667ae4c46ff"/>
          <a:stretch xmlns:a="http://schemas.openxmlformats.org/drawingml/2006/main"/>
        </p:blipFill>
        <p:spPr>
          <a:xfrm xmlns:a="http://schemas.openxmlformats.org/drawingml/2006/main">
            <a:off x="3189182" y="781050"/>
            <a:ext cx="7775787" cy="5467350"/>
          </a:xfrm>
          <a:prstGeom xmlns:a="http://schemas.openxmlformats.org/drawingml/2006/main" prst="roundRect">
            <a:avLst>
              <a:gd name="adj" fmla="val 2091"/>
            </a:avLst>
          </a:prstGeom>
        </p:spPr>
      </p:pic>
    </p:spTree>
    <p:extLst>
      <p:ext uri="{BB962C8B-B14F-4D97-AF65-F5344CB8AC3E}">
        <p14:creationId xmlns:p14="http://schemas.microsoft.com/office/powerpoint/2010/main" val="7365177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EF2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8368FC-B2EF-45F8-914A-F73FFAE5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RESPONSIVE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C47D7-3D27-4B30-85F1-5712400D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窄屏、弹窗与深色主题参考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16A152-D606-4F2C-977E-12F4A538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381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51C13-EF3C-4509-B020-6257CBCC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724150" cy="4476750"/>
          </a:xfrm>
          <a:prstGeom xmlns:a="http://schemas.openxmlformats.org/drawingml/2006/main" prst="roundRect">
            <a:avLst>
              <a:gd name="adj" fmla="val 6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10fe14f37a473a"/>
          <a:stretch xmlns:a="http://schemas.openxmlformats.org/drawingml/2006/main"/>
        </p:blipFill>
        <p:spPr>
          <a:xfrm xmlns:a="http://schemas.openxmlformats.org/drawingml/2006/main">
            <a:off x="1064994" y="1562100"/>
            <a:ext cx="1813361" cy="3924300"/>
          </a:xfrm>
          <a:prstGeom xmlns:a="http://schemas.openxmlformats.org/drawingml/2006/main" prst="roundRect">
            <a:avLst>
              <a:gd name="adj" fmla="val 375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5B836-BD18-411B-90C7-CBF4A2EF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移动首页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F2EA8-6238-4DF1-A1C4-387F61A1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466850"/>
            <a:ext cx="2724150" cy="4476750"/>
          </a:xfrm>
          <a:prstGeom xmlns:a="http://schemas.openxmlformats.org/drawingml/2006/main" prst="roundRect">
            <a:avLst>
              <a:gd name="adj" fmla="val 6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c6a3c503414dc7"/>
          <a:stretch xmlns:a="http://schemas.openxmlformats.org/drawingml/2006/main"/>
        </p:blipFill>
        <p:spPr>
          <a:xfrm xmlns:a="http://schemas.openxmlformats.org/drawingml/2006/main">
            <a:off x="4093944" y="1562100"/>
            <a:ext cx="1813361" cy="3924300"/>
          </a:xfrm>
          <a:prstGeom xmlns:a="http://schemas.openxmlformats.org/drawingml/2006/main" prst="roundRect">
            <a:avLst>
              <a:gd name="adj" fmla="val 375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AE362D-7522-45A2-BC71-76368D27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581650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来源定位弹窗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1222BF-E989-4B42-9BEF-6F5C8A71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66850"/>
            <a:ext cx="4572000" cy="4476750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27abe74e7c4a6b"/>
          <a:stretch xmlns:a="http://schemas.openxmlformats.org/drawingml/2006/main"/>
        </p:blipFill>
        <p:spPr>
          <a:xfrm xmlns:a="http://schemas.openxmlformats.org/drawingml/2006/main">
            <a:off x="6762750" y="1983879"/>
            <a:ext cx="4381500" cy="3080742"/>
          </a:xfrm>
          <a:prstGeom xmlns:a="http://schemas.openxmlformats.org/drawingml/2006/main" prst="roundRect">
            <a:avLst>
              <a:gd name="adj" fmla="val 2427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F64208-3085-42F1-A796-8480A166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581650"/>
            <a:ext cx="426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26"/>
                </a:solidFill>
                <a:latin typeface="Microsoft YaHei"/>
                <a:ea typeface="Microsoft YaHei"/>
                <a:cs typeface="Microsoft YaHei"/>
              </a:rPr>
              <a:t>深色主题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4C6939-81D5-42AE-B93F-2BFE40F7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654850-0B03-4FA3-885A-EDB46243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477"/>
                </a:solidFill>
                <a:latin typeface="Microsoft YaHei"/>
                <a:ea typeface="Microsoft YaHei"/>
                <a:cs typeface="Microsoft YaHei"/>
              </a:rPr>
              <a:t>Case Filing Assistant · Canva Resource</a:t>
            </a:r>
          </a:p>
        </p:txBody>
      </p:sp>
    </p:spTree>
    <p:extLst>
      <p:ext uri="{BB962C8B-B14F-4D97-AF65-F5344CB8AC3E}">
        <p14:creationId xmlns:p14="http://schemas.microsoft.com/office/powerpoint/2010/main" val="6078969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2026-08-05T17:09:14.7790000Z</dcterms:created>
  <dcterms:modified xsi:type="dcterms:W3CDTF">2026-08-05T17:09:14.7790000Z</dcterms:modified>
</coreProperties>
</file>